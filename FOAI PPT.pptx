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Presentation" id="{99200E94-D342-6E71-EA4F-C86A94310CD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8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B23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AI Skin Care Expert System with Dynamic Skin Digital Twin  |  Foundations of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4"/>
                </a:solidFill>
              </a:rPr>
              <a:t>FOUNDATIONS OF ARTIFICIAL INTELLIGENCE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Skin Care Expert System with Dynamic Skin Digital Twin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 rule-based, explainable approach to skincare guidance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7223760" cy="180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Subject             :  Foundations of Artificial Intelligence</a:t>
            </a:r>
            <a:endParaRPr lang="en-US" sz="18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College             :  </a:t>
            </a:r>
            <a:r>
              <a:rPr lang="en-US" b="1" dirty="0">
                <a:solidFill>
                  <a:schemeClr val="bg1"/>
                </a:solidFill>
              </a:rPr>
              <a:t>Rajalakshmi Engineering College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Presented by  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  </a:t>
            </a:r>
            <a:r>
              <a:rPr lang="en-US" b="1" dirty="0">
                <a:solidFill>
                  <a:schemeClr val="bg1"/>
                </a:solidFill>
              </a:rPr>
              <a:t>ABISHAA R  (240701012)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                    </a:t>
            </a:r>
            <a:r>
              <a:rPr lang="en-US" sz="1800" dirty="0">
                <a:solidFill>
                  <a:schemeClr val="bg1"/>
                </a:solidFill>
              </a:rPr>
              <a:t>          </a:t>
            </a:r>
            <a:r>
              <a:rPr lang="en-US" sz="1800" b="1" dirty="0">
                <a:solidFill>
                  <a:schemeClr val="bg1"/>
                </a:solidFill>
              </a:rPr>
              <a:t>ARIFA H       (240701047)</a:t>
            </a:r>
            <a:endParaRPr lang="en-US" sz="1800" b="1" dirty="0"/>
          </a:p>
        </p:txBody>
      </p:sp>
      <p:sp>
        <p:nvSpPr>
          <p:cNvPr id="6" name="Shape 4"/>
          <p:cNvSpPr/>
          <p:nvPr/>
        </p:nvSpPr>
        <p:spPr>
          <a:xfrm>
            <a:off x="8503920" y="1280160"/>
            <a:ext cx="3383280" cy="338328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1691640"/>
            <a:ext cx="2560320" cy="2560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28600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064240" y="4206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Abstract</a:t>
            </a:r>
            <a:endParaRPr lang="en-US" sz="3600" dirty="0"/>
          </a:p>
        </p:txBody>
      </p:sp>
      <p:sp>
        <p:nvSpPr>
          <p:cNvPr id="3" name="abs-card-1"/>
          <p:cNvSpPr/>
          <p:nvPr/>
        </p:nvSpPr>
        <p:spPr>
          <a:xfrm>
            <a:off x="640080" y="1371600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581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Overview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371600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web-based skincare guidance app built on explicit rules, with no machine learning.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37160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joins webcam capture, a questionnaire and a daily skincare checklist.</a:t>
            </a:r>
            <a:endParaRPr lang="en-US" sz="1400" dirty="0"/>
          </a:p>
        </p:txBody>
      </p:sp>
      <p:sp>
        <p:nvSpPr>
          <p:cNvPr id="9" name="abs-card-2"/>
          <p:cNvSpPr/>
          <p:nvPr/>
        </p:nvSpPr>
        <p:spPr>
          <a:xfrm>
            <a:off x="640080" y="2322576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532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32257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322576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webcam face image goes through Haar Cascade face detection and quality checks.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322576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Brightness and sharpness are measured to confirm the photo is usable.</a:t>
            </a:r>
            <a:endParaRPr lang="en-US" sz="1400" dirty="0"/>
          </a:p>
        </p:txBody>
      </p:sp>
      <p:sp>
        <p:nvSpPr>
          <p:cNvPr id="15" name="abs-card-3"/>
          <p:cNvSpPr/>
          <p:nvPr/>
        </p:nvSpPr>
        <p:spPr>
          <a:xfrm>
            <a:off x="640080" y="3273552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48386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273552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Reasoning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273552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rule-based engine applies predefined IF–THEN rules to the user's reported concerns.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273552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suggestion connects to the user answer and the rule behind it.</a:t>
            </a:r>
            <a:endParaRPr lang="en-US" sz="1400" dirty="0"/>
          </a:p>
        </p:txBody>
      </p:sp>
      <p:sp>
        <p:nvSpPr>
          <p:cNvPr id="21" name="abs-card-4"/>
          <p:cNvSpPr/>
          <p:nvPr/>
        </p:nvSpPr>
        <p:spPr>
          <a:xfrm>
            <a:off x="640080" y="4224528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434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22452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Digital Twin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422452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Saved assessments and daily routine activity form a dated record for each user.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224528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Bar and line graphs show real recorded data, and past reports can be reviewed.</a:t>
            </a:r>
            <a:endParaRPr lang="en-US" sz="1400" dirty="0"/>
          </a:p>
        </p:txBody>
      </p:sp>
      <p:sp>
        <p:nvSpPr>
          <p:cNvPr id="27" name="abs-card-5"/>
          <p:cNvSpPr/>
          <p:nvPr/>
        </p:nvSpPr>
        <p:spPr>
          <a:xfrm>
            <a:off x="640080" y="5175504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3858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17550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Care &amp; Safety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51755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Light and dark themes, report downloads and email password recovery are included.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5175504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is for skincare education, not a diagnosis or a replacement for medical advice.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Skincare advice online is complicated, and many apps give results users cannot easily understand.</a:t>
            </a:r>
            <a:endParaRPr lang="en-US" sz="2400" dirty="0"/>
          </a:p>
        </p:txBody>
      </p:sp>
      <p:sp>
        <p:nvSpPr>
          <p:cNvPr id="4" name="prob-focus"/>
          <p:cNvSpPr/>
          <p:nvPr/>
        </p:nvSpPr>
        <p:spPr>
          <a:xfrm>
            <a:off x="640080" y="4114800"/>
            <a:ext cx="457200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2519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This project takes the opposite route: rules a user can read, and claims a webcam can actually support.</a:t>
            </a:r>
            <a:endParaRPr lang="en-US" sz="1800" dirty="0"/>
          </a:p>
        </p:txBody>
      </p:sp>
      <p:sp>
        <p:nvSpPr>
          <p:cNvPr id="6" name="prob-card-1"/>
          <p:cNvSpPr/>
          <p:nvPr/>
        </p:nvSpPr>
        <p:spPr>
          <a:xfrm>
            <a:off x="5577840" y="141732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0644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Confusing advice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Online tips mix technical terms, conflicting suggestions and extra detail.</a:t>
            </a:r>
            <a:endParaRPr lang="en-US" sz="1400" dirty="0"/>
          </a:p>
        </p:txBody>
      </p:sp>
      <p:sp>
        <p:nvSpPr>
          <p:cNvPr id="11" name="prob-card-2"/>
          <p:cNvSpPr/>
          <p:nvPr/>
        </p:nvSpPr>
        <p:spPr>
          <a:xfrm>
            <a:off x="8686800" y="141732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1540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783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154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Black-box results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91540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Users get predictions they cannot easily understand or verify.</a:t>
            </a:r>
            <a:endParaRPr lang="en-US" sz="1400" dirty="0"/>
          </a:p>
        </p:txBody>
      </p:sp>
      <p:sp>
        <p:nvSpPr>
          <p:cNvPr id="16" name="prob-card-3"/>
          <p:cNvSpPr/>
          <p:nvPr/>
        </p:nvSpPr>
        <p:spPr>
          <a:xfrm>
            <a:off x="5577840" y="374904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6440" y="3977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114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0644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Overclaiming cameras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80644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webcam alone cannot reliably measure skin traits, yet many tools imply it can.</a:t>
            </a:r>
            <a:endParaRPr lang="en-US" sz="1400" dirty="0"/>
          </a:p>
        </p:txBody>
      </p:sp>
      <p:sp>
        <p:nvSpPr>
          <p:cNvPr id="21" name="prob-card-4"/>
          <p:cNvSpPr/>
          <p:nvPr/>
        </p:nvSpPr>
        <p:spPr>
          <a:xfrm>
            <a:off x="8686800" y="374904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915400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41148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1540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Missing history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91540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Many apps give no simple assessment history or routine tracking.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Literature Survey</a:t>
            </a:r>
            <a:endParaRPr lang="en-US" sz="3600" dirty="0"/>
          </a:p>
        </p:txBody>
      </p:sp>
      <p:graphicFrame>
        <p:nvGraphicFramePr>
          <p:cNvPr id="5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4572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Author (Year)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Relevance to this project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Viola &amp; Jones (2001)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Rapid object detection using a boosted cascade of simple features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Basis of the Haar Cascade face detector used here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Bradski (2000)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OpenCV Library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Provides the face-detection and image-processing tools used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Gonzalez &amp; Woods (2018)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Digital Image Processing, 4th Edition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Guides the brightness and sharpness checks on the photo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Russell &amp; Norvig (2021)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Artificial Intelligence: A Modern Approach, 4th Edition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Basis of rule-based and forward-chaining reasoning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W3C / MDN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 Capture and Streams; MediaDevices getUserMedia()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Basis of webcam capture in the browser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Gap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Where current systems stand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355080" y="1371600"/>
            <a:ext cx="519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gap this project addresses</a:t>
            </a:r>
            <a:endParaRPr lang="en-US" sz="1800" dirty="0"/>
          </a:p>
        </p:txBody>
      </p:sp>
      <p:sp>
        <p:nvSpPr>
          <p:cNvPr id="5" name="gap-left-1"/>
          <p:cNvSpPr/>
          <p:nvPr/>
        </p:nvSpPr>
        <p:spPr>
          <a:xfrm>
            <a:off x="640080" y="192024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Many skin apps give predictions that users cannot easily understand.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213969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253996"/>
            <a:ext cx="228600" cy="228600"/>
          </a:xfrm>
          <a:prstGeom prst="rect">
            <a:avLst/>
          </a:prstGeom>
        </p:spPr>
      </p:pic>
      <p:sp>
        <p:nvSpPr>
          <p:cNvPr id="9" name="gap-right-1"/>
          <p:cNvSpPr/>
          <p:nvPr/>
        </p:nvSpPr>
        <p:spPr>
          <a:xfrm>
            <a:off x="6355080" y="192024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92024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Few offer simple, transparent rules that a user can read and question.</a:t>
            </a:r>
            <a:endParaRPr lang="en-US" sz="1400" dirty="0"/>
          </a:p>
        </p:txBody>
      </p:sp>
      <p:sp>
        <p:nvSpPr>
          <p:cNvPr id="11" name="gap-left-2"/>
          <p:cNvSpPr/>
          <p:nvPr/>
        </p:nvSpPr>
        <p:spPr>
          <a:xfrm>
            <a:off x="640080" y="292608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292608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Some tools show results that a webcam cannot reliably measure.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31455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3259836"/>
            <a:ext cx="228600" cy="228600"/>
          </a:xfrm>
          <a:prstGeom prst="rect">
            <a:avLst/>
          </a:prstGeom>
        </p:spPr>
      </p:pic>
      <p:sp>
        <p:nvSpPr>
          <p:cNvPr id="15" name="gap-right-2"/>
          <p:cNvSpPr/>
          <p:nvPr/>
        </p:nvSpPr>
        <p:spPr>
          <a:xfrm>
            <a:off x="6355080" y="292608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83680" y="292608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Few keep photo checks, user answers and rule suggestions separate.</a:t>
            </a:r>
            <a:endParaRPr lang="en-US" sz="1400" dirty="0"/>
          </a:p>
        </p:txBody>
      </p:sp>
      <p:sp>
        <p:nvSpPr>
          <p:cNvPr id="17" name="gap-left-3"/>
          <p:cNvSpPr/>
          <p:nvPr/>
        </p:nvSpPr>
        <p:spPr>
          <a:xfrm>
            <a:off x="640080" y="393192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68680" y="393192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Face detection may count one visible face several times.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760720" y="41513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4265676"/>
            <a:ext cx="228600" cy="228600"/>
          </a:xfrm>
          <a:prstGeom prst="rect">
            <a:avLst/>
          </a:prstGeom>
        </p:spPr>
      </p:pic>
      <p:sp>
        <p:nvSpPr>
          <p:cNvPr id="21" name="gap-right-3"/>
          <p:cNvSpPr/>
          <p:nvPr/>
        </p:nvSpPr>
        <p:spPr>
          <a:xfrm>
            <a:off x="6355080" y="393192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583680" y="393192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Overlapping detections must be consolidated so one face is counted once.</a:t>
            </a:r>
            <a:endParaRPr lang="en-US" sz="1400" dirty="0"/>
          </a:p>
        </p:txBody>
      </p:sp>
      <p:sp>
        <p:nvSpPr>
          <p:cNvPr id="23" name="gap-left-4"/>
          <p:cNvSpPr/>
          <p:nvPr/>
        </p:nvSpPr>
        <p:spPr>
          <a:xfrm>
            <a:off x="640080" y="493776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68680" y="493776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Assessments are often one-off results.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760720" y="515721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5271516"/>
            <a:ext cx="228600" cy="228600"/>
          </a:xfrm>
          <a:prstGeom prst="rect">
            <a:avLst/>
          </a:prstGeom>
        </p:spPr>
      </p:pic>
      <p:sp>
        <p:nvSpPr>
          <p:cNvPr id="27" name="gap-right-4"/>
          <p:cNvSpPr/>
          <p:nvPr/>
        </p:nvSpPr>
        <p:spPr>
          <a:xfrm>
            <a:off x="6355080" y="493776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583680" y="493776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Little support for a private, user-specific history and daily routine tracking.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Objective</a:t>
            </a:r>
            <a:endParaRPr lang="en-US" sz="3600" dirty="0"/>
          </a:p>
        </p:txBody>
      </p:sp>
      <p:sp>
        <p:nvSpPr>
          <p:cNvPr id="3" name="obj-card-1"/>
          <p:cNvSpPr/>
          <p:nvPr/>
        </p:nvSpPr>
        <p:spPr>
          <a:xfrm>
            <a:off x="640080" y="137160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Detect one face reliably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385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Haar Cascade detection on webcam images and consolidate overlaps.</a:t>
            </a:r>
            <a:endParaRPr lang="en-US" sz="1400" dirty="0"/>
          </a:p>
        </p:txBody>
      </p:sp>
      <p:sp>
        <p:nvSpPr>
          <p:cNvPr id="7" name="obj-card-2"/>
          <p:cNvSpPr/>
          <p:nvPr/>
        </p:nvSpPr>
        <p:spPr>
          <a:xfrm>
            <a:off x="6199632" y="137160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37160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296912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 the image quality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96912" y="19385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brightness and sharpness with traditional image processing.</a:t>
            </a:r>
            <a:endParaRPr lang="en-US" sz="1400" dirty="0"/>
          </a:p>
        </p:txBody>
      </p:sp>
      <p:sp>
        <p:nvSpPr>
          <p:cNvPr id="11" name="obj-card-3"/>
          <p:cNvSpPr/>
          <p:nvPr/>
        </p:nvSpPr>
        <p:spPr>
          <a:xfrm>
            <a:off x="640080" y="292608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9260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Reason in the open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493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rule-based expert system with predefined IF–THEN rules.</a:t>
            </a:r>
            <a:endParaRPr lang="en-US" sz="1400" dirty="0"/>
          </a:p>
        </p:txBody>
      </p:sp>
      <p:sp>
        <p:nvSpPr>
          <p:cNvPr id="15" name="obj-card-4"/>
          <p:cNvSpPr/>
          <p:nvPr/>
        </p:nvSpPr>
        <p:spPr>
          <a:xfrm>
            <a:off x="6199632" y="292608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29260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a Digital Twin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96912" y="3493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Save assessments and routines as a history the user can review.</a:t>
            </a:r>
            <a:endParaRPr lang="en-US" sz="1400" dirty="0"/>
          </a:p>
        </p:txBody>
      </p:sp>
      <p:sp>
        <p:nvSpPr>
          <p:cNvPr id="19" name="obj-card-5"/>
          <p:cNvSpPr/>
          <p:nvPr/>
        </p:nvSpPr>
        <p:spPr>
          <a:xfrm>
            <a:off x="640080" y="448056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4805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Support daily care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0474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Provide a daily morning and evening routine checklist.</a:t>
            </a:r>
            <a:endParaRPr lang="en-US" sz="1400" dirty="0"/>
          </a:p>
        </p:txBody>
      </p:sp>
      <p:sp>
        <p:nvSpPr>
          <p:cNvPr id="23" name="obj-card-6"/>
          <p:cNvSpPr/>
          <p:nvPr/>
        </p:nvSpPr>
        <p:spPr>
          <a:xfrm>
            <a:off x="6199632" y="448056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8232" y="44805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 the user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50474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secure login, private records and no stored face images by default.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Work: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345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24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User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camera and answers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54480" y="2148840"/>
            <a:ext cx="5486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005840" y="3566160"/>
            <a:ext cx="0" cy="1463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005840" y="5029200"/>
            <a:ext cx="10972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arch-browser"/>
          <p:cNvSpPr/>
          <p:nvPr/>
        </p:nvSpPr>
        <p:spPr>
          <a:xfrm>
            <a:off x="210312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Browser: React + OpenCV.js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1719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photos are not stored by default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0" y="201168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359152" y="20116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Webcam capture (getUserMedia)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77640" y="2468880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286000" y="2633472"/>
            <a:ext cx="33832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359152" y="2633472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Grayscale, histogram equalisation, Haar detectMultiScale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977640" y="3273552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286000" y="3438144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359152" y="343814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IoU merge, unique face count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977640" y="3895344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286000" y="4059936"/>
            <a:ext cx="33832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359152" y="4059936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Photo quality checks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977640" y="4700016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86000" y="4864608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359152" y="486460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Questionnaire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23360" y="4864608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096512" y="486460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 and graphs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286000" y="5486400"/>
            <a:ext cx="338328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2359152" y="548640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Light and dark theme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852160" y="2148840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5806440" y="22219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REST + JSON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852160" y="5029200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5806440" y="51023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results and records</a:t>
            </a:r>
            <a:endParaRPr lang="en-US" sz="1100" dirty="0"/>
          </a:p>
        </p:txBody>
      </p:sp>
      <p:sp>
        <p:nvSpPr>
          <p:cNvPr id="35" name="arch-server"/>
          <p:cNvSpPr/>
          <p:nvPr/>
        </p:nvSpPr>
        <p:spPr>
          <a:xfrm>
            <a:off x="6720840" y="1371600"/>
            <a:ext cx="2926080" cy="4754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03720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Flask API: Python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services kept separate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903720" y="201168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976872" y="2011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Auth and validation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183880" y="2468880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903720" y="2633472"/>
            <a:ext cx="25603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6976872" y="2633472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Rule engine + forward chaining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8183880" y="3364992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6903720" y="3529584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6976872" y="352958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 generator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183880" y="3986784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6903720" y="4151376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6976872" y="41513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Routine generator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183880" y="4608576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6903720" y="4773168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6976872" y="477316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Digital Twin service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183880" y="5230368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6903720" y="539496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6976872" y="53949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Password recovery (email)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9646920" y="2999232"/>
            <a:ext cx="6858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56" name="Text 53"/>
          <p:cNvSpPr txBox="1"/>
          <p:nvPr/>
        </p:nvSpPr>
        <p:spPr>
          <a:xfrm>
            <a:off x="9601200" y="3072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rules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646920" y="5001768"/>
            <a:ext cx="6858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58" name="Text 55"/>
          <p:cNvSpPr txBox="1"/>
          <p:nvPr/>
        </p:nvSpPr>
        <p:spPr>
          <a:xfrm>
            <a:off x="9601200" y="5074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records</a:t>
            </a:r>
            <a:endParaRPr lang="en-US" sz="1100" dirty="0"/>
          </a:p>
        </p:txBody>
      </p:sp>
      <p:sp>
        <p:nvSpPr>
          <p:cNvPr id="59" name="arch-db"/>
          <p:cNvSpPr/>
          <p:nvPr/>
        </p:nvSpPr>
        <p:spPr>
          <a:xfrm>
            <a:off x="10332720" y="1371600"/>
            <a:ext cx="1234440" cy="47548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625328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5348" y="1714500"/>
            <a:ext cx="320040" cy="320040"/>
          </a:xfrm>
          <a:prstGeom prst="rect">
            <a:avLst/>
          </a:prstGeom>
        </p:spPr>
      </p:pic>
      <p:sp>
        <p:nvSpPr>
          <p:cNvPr id="62" name="Text 58"/>
          <p:cNvSpPr txBox="1"/>
          <p:nvPr/>
        </p:nvSpPr>
        <p:spPr>
          <a:xfrm>
            <a:off x="10332720" y="2286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SQLite</a:t>
            </a:r>
            <a:endParaRPr lang="en-US" sz="1500" dirty="0"/>
          </a:p>
        </p:txBody>
      </p:sp>
      <p:sp>
        <p:nvSpPr>
          <p:cNvPr id="63" name="Text 59"/>
          <p:cNvSpPr txBox="1"/>
          <p:nvPr/>
        </p:nvSpPr>
        <p:spPr>
          <a:xfrm>
            <a:off x="10332720" y="2743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Users</a:t>
            </a:r>
            <a:endParaRPr lang="en-US" sz="1400" dirty="0"/>
          </a:p>
        </p:txBody>
      </p:sp>
      <p:sp>
        <p:nvSpPr>
          <p:cNvPr id="64" name="Text 60"/>
          <p:cNvSpPr txBox="1"/>
          <p:nvPr/>
        </p:nvSpPr>
        <p:spPr>
          <a:xfrm>
            <a:off x="10332720" y="3154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Assessments</a:t>
            </a:r>
            <a:endParaRPr lang="en-US" sz="1400" dirty="0"/>
          </a:p>
        </p:txBody>
      </p:sp>
      <p:sp>
        <p:nvSpPr>
          <p:cNvPr id="65" name="Text 61"/>
          <p:cNvSpPr txBox="1"/>
          <p:nvPr/>
        </p:nvSpPr>
        <p:spPr>
          <a:xfrm>
            <a:off x="1033272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Suggestions</a:t>
            </a:r>
            <a:endParaRPr lang="en-US" sz="1400" dirty="0"/>
          </a:p>
        </p:txBody>
      </p:sp>
      <p:sp>
        <p:nvSpPr>
          <p:cNvPr id="66" name="Text 62"/>
          <p:cNvSpPr txBox="1"/>
          <p:nvPr/>
        </p:nvSpPr>
        <p:spPr>
          <a:xfrm>
            <a:off x="1033272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History</a:t>
            </a:r>
            <a:endParaRPr lang="en-US" sz="1400" dirty="0"/>
          </a:p>
        </p:txBody>
      </p:sp>
      <p:sp>
        <p:nvSpPr>
          <p:cNvPr id="67" name="Text 63"/>
          <p:cNvSpPr txBox="1"/>
          <p:nvPr/>
        </p:nvSpPr>
        <p:spPr>
          <a:xfrm>
            <a:off x="1033272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Routines</a:t>
            </a:r>
            <a:endParaRPr lang="en-US" sz="1400" dirty="0"/>
          </a:p>
        </p:txBody>
      </p:sp>
      <p:sp>
        <p:nvSpPr>
          <p:cNvPr id="68" name="Text 64"/>
          <p:cNvSpPr txBox="1"/>
          <p:nvPr/>
        </p:nvSpPr>
        <p:spPr>
          <a:xfrm>
            <a:off x="10332720" y="4800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Recovery</a:t>
            </a:r>
            <a:endParaRPr lang="en-US" sz="1400" dirty="0"/>
          </a:p>
        </p:txBody>
      </p:sp>
      <p:sp>
        <p:nvSpPr>
          <p:cNvPr id="69" name="Text 65"/>
          <p:cNvSpPr txBox="1"/>
          <p:nvPr/>
        </p:nvSpPr>
        <p:spPr>
          <a:xfrm>
            <a:off x="1033272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Reports</a:t>
            </a:r>
            <a:endParaRPr lang="en-US" sz="1400" dirty="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Work: Algorithms Used</a:t>
            </a:r>
            <a:endParaRPr lang="en-US" sz="3600" dirty="0"/>
          </a:p>
        </p:txBody>
      </p:sp>
      <p:sp>
        <p:nvSpPr>
          <p:cNvPr id="3" name="key-algo-1"/>
          <p:cNvSpPr/>
          <p:nvPr/>
        </p:nvSpPr>
        <p:spPr>
          <a:xfrm>
            <a:off x="640080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Forward Chaining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Starts from known facts and applies matching rules to derive suggestions.</a:t>
            </a:r>
            <a:endParaRPr lang="en-US" sz="1400" dirty="0"/>
          </a:p>
        </p:txBody>
      </p:sp>
      <p:sp>
        <p:nvSpPr>
          <p:cNvPr id="7" name="key-algo-2"/>
          <p:cNvSpPr/>
          <p:nvPr/>
        </p:nvSpPr>
        <p:spPr>
          <a:xfrm>
            <a:off x="3401568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Haar Cascade Detection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Finds face candidates in the photo; overlapping detections are merged.</a:t>
            </a:r>
            <a:endParaRPr lang="en-US" sz="1400" dirty="0"/>
          </a:p>
        </p:txBody>
      </p:sp>
      <p:sp>
        <p:nvSpPr>
          <p:cNvPr id="11" name="key-algo-3"/>
          <p:cNvSpPr/>
          <p:nvPr/>
        </p:nvSpPr>
        <p:spPr>
          <a:xfrm>
            <a:off x="6163056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Image-Quality Analysis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Brightness and sharpness checks show if the photo suits analysis.</a:t>
            </a:r>
            <a:endParaRPr lang="en-US" sz="1400" dirty="0"/>
          </a:p>
        </p:txBody>
      </p:sp>
      <p:sp>
        <p:nvSpPr>
          <p:cNvPr id="15" name="key-algo-4"/>
          <p:cNvSpPr/>
          <p:nvPr/>
        </p:nvSpPr>
        <p:spPr>
          <a:xfrm>
            <a:off x="8924544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7424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Rule-Based Reasoning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Predefined IF–THEN rules turn user answers into general skincare suggestions.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Supporting techniques</a:t>
            </a:r>
            <a:endParaRPr lang="en-US" sz="1600" dirty="0"/>
          </a:p>
        </p:txBody>
      </p:sp>
      <p:sp>
        <p:nvSpPr>
          <p:cNvPr id="20" name="algo-card-1"/>
          <p:cNvSpPr/>
          <p:nvPr/>
        </p:nvSpPr>
        <p:spPr>
          <a:xfrm>
            <a:off x="640080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Knowledge Representation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Facts and rules are held as predefined conditions and actions.</a:t>
            </a:r>
            <a:endParaRPr lang="en-US" sz="1400" dirty="0"/>
          </a:p>
        </p:txBody>
      </p:sp>
      <p:sp>
        <p:nvSpPr>
          <p:cNvPr id="23" name="algo-card-2"/>
          <p:cNvSpPr/>
          <p:nvPr/>
        </p:nvSpPr>
        <p:spPr>
          <a:xfrm>
            <a:off x="3401568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84448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Propositional Logic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84448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Reported concerns are true or false facts used in rule conditions.</a:t>
            </a:r>
            <a:endParaRPr lang="en-US" sz="1400" dirty="0"/>
          </a:p>
        </p:txBody>
      </p:sp>
      <p:sp>
        <p:nvSpPr>
          <p:cNvPr id="26" name="algo-card-3"/>
          <p:cNvSpPr/>
          <p:nvPr/>
        </p:nvSpPr>
        <p:spPr>
          <a:xfrm>
            <a:off x="6163056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5936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Graph Generation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Bar and line graphs are drawn only from real saved records.</a:t>
            </a:r>
            <a:endParaRPr lang="en-US" sz="1400" dirty="0"/>
          </a:p>
        </p:txBody>
      </p:sp>
      <p:sp>
        <p:nvSpPr>
          <p:cNvPr id="29" name="algo-card-4"/>
          <p:cNvSpPr/>
          <p:nvPr/>
        </p:nvSpPr>
        <p:spPr>
          <a:xfrm>
            <a:off x="8924544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07424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Input Validation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07424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Forms and credentials are checked before they are processed.</a:t>
            </a:r>
            <a:endParaRPr lang="en-US" sz="1400" dirty="0"/>
          </a:p>
        </p:txBody>
      </p:sp>
      <p:sp>
        <p:nvSpPr>
          <p:cNvPr id="32" name="algo-card-5"/>
          <p:cNvSpPr/>
          <p:nvPr/>
        </p:nvSpPr>
        <p:spPr>
          <a:xfrm>
            <a:off x="640080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Password Hashing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Passwords are stored as secure hashes, never as plain text.</a:t>
            </a:r>
            <a:endParaRPr lang="en-US" sz="1400" dirty="0"/>
          </a:p>
        </p:txBody>
      </p:sp>
      <p:sp>
        <p:nvSpPr>
          <p:cNvPr id="35" name="algo-card-6"/>
          <p:cNvSpPr/>
          <p:nvPr/>
        </p:nvSpPr>
        <p:spPr>
          <a:xfrm>
            <a:off x="3401568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84448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Time-Limited Codes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584448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Email recovery codes expire and are invalid after one use.</a:t>
            </a:r>
            <a:endParaRPr lang="en-US" sz="1400" dirty="0"/>
          </a:p>
        </p:txBody>
      </p:sp>
      <p:sp>
        <p:nvSpPr>
          <p:cNvPr id="38" name="algo-card-7"/>
          <p:cNvSpPr/>
          <p:nvPr/>
        </p:nvSpPr>
        <p:spPr>
          <a:xfrm>
            <a:off x="6163056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45936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Digital Twin Record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345936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Saved assessments and routine steps build a dated history.</a:t>
            </a:r>
            <a:endParaRPr lang="en-US" sz="1400" dirty="0"/>
          </a:p>
        </p:txBody>
      </p:sp>
      <p:sp>
        <p:nvSpPr>
          <p:cNvPr id="41" name="algo-card-8"/>
          <p:cNvSpPr/>
          <p:nvPr/>
        </p:nvSpPr>
        <p:spPr>
          <a:xfrm>
            <a:off x="8924544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07424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in Healthcare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07424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General skincare education with safety guidance, never a diagnosis.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Implementation</a:t>
            </a:r>
            <a:endParaRPr lang="en-US" sz="3600" dirty="0"/>
          </a:p>
        </p:txBody>
      </p:sp>
      <p:sp>
        <p:nvSpPr>
          <p:cNvPr id="3" name="impl-panel-1"/>
          <p:cNvSpPr/>
          <p:nvPr/>
        </p:nvSpPr>
        <p:spPr>
          <a:xfrm>
            <a:off x="64008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Hardware specification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Processor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Intel Core i3 or better (i5 recommended)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266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30266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4 GB minimum, 8 GB recommended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630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Storage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3630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About 1 GB of free space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Camera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4233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Built-in or USB webcam, 720p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8371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Display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468880" y="48371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1366 × 768 or higher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5440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Lighting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Even, front-facing light</a:t>
            </a:r>
            <a:endParaRPr lang="en-US" sz="1500" dirty="0"/>
          </a:p>
        </p:txBody>
      </p:sp>
      <p:sp>
        <p:nvSpPr>
          <p:cNvPr id="19" name="impl-panel-2"/>
          <p:cNvSpPr/>
          <p:nvPr/>
        </p:nvSpPr>
        <p:spPr>
          <a:xfrm>
            <a:off x="6199632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473952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174879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96912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Software specification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519672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OS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8028432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Windows 10/11, Linux or macOS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519672" y="30266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028432" y="30266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React with CSS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519672" y="3630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028432" y="3630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Python 3 with Flask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519672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Database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028432" y="4233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SQLite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6519672" y="48371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Detector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8028432" y="48371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OpenCV Haar Cascade face detection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519672" y="5440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Browser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8028432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Chrome or Edge (HTTPS or localhost)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 and 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Face check. </a:t>
            </a:r>
            <a:r>
              <a:rPr lang="en-US" sz="1500" dirty="0">
                <a:solidFill>
                  <a:schemeClr val="tx1"/>
                </a:solidFill>
              </a:rPr>
              <a:t>Haar Cascade finds the face, and overlapping detections are merged into one.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44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170682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86207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 measurements. </a:t>
            </a:r>
            <a:r>
              <a:rPr lang="en-US" sz="1500" dirty="0">
                <a:solidFill>
                  <a:schemeClr val="tx1"/>
                </a:solidFill>
              </a:rPr>
              <a:t>Brightness and sharpness come from the captured photo, and graphs use only recorded data.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249674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4106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Traceable advice. </a:t>
            </a:r>
            <a:r>
              <a:rPr lang="en-US" sz="1500" dirty="0">
                <a:solidFill>
                  <a:schemeClr val="tx1"/>
                </a:solidFill>
              </a:rPr>
              <a:t>Each suggestion links back to the user answer and the predefined rule behind it.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52029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5328666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502005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Lasting records. </a:t>
            </a:r>
            <a:r>
              <a:rPr lang="en-US" sz="1500" dirty="0">
                <a:solidFill>
                  <a:schemeClr val="tx1"/>
                </a:solidFill>
              </a:rPr>
              <a:t>Saved assessments and routine completion stay on the user’s own account.</a:t>
            </a:r>
            <a:endParaRPr lang="en-US" sz="1500" dirty="0"/>
          </a:p>
        </p:txBody>
      </p:sp>
      <p:sp>
        <p:nvSpPr>
          <p:cNvPr id="16" name="concl-panel"/>
          <p:cNvSpPr/>
          <p:nvPr/>
        </p:nvSpPr>
        <p:spPr>
          <a:xfrm>
            <a:off x="6675120" y="1280160"/>
            <a:ext cx="4873752" cy="4846320"/>
          </a:xfrm>
          <a:prstGeom prst="roundRect">
            <a:avLst>
              <a:gd name="adj" fmla="val 22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04088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21488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Traditional computer vision and rule-based reasoning can deliver understandable skincare guidance without machine learning.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Photo observations and user answers stay separate, and the system is open about what a webcam cannot measure.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It supports daily skincare habits and education. It does not diagnose or replace professional medical advice.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Future Enhancement</a:t>
            </a:r>
            <a:endParaRPr lang="en-US" sz="3600" dirty="0"/>
          </a:p>
        </p:txBody>
      </p:sp>
      <p:sp>
        <p:nvSpPr>
          <p:cNvPr id="3" name="future-card-1"/>
          <p:cNvSpPr/>
          <p:nvPr/>
        </p:nvSpPr>
        <p:spPr>
          <a:xfrm>
            <a:off x="640080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Reminders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browser or email reminders for the daily skincare routine.</a:t>
            </a:r>
            <a:endParaRPr lang="en-US" sz="1400" dirty="0"/>
          </a:p>
        </p:txBody>
      </p:sp>
      <p:sp>
        <p:nvSpPr>
          <p:cNvPr id="8" name="future-card-2"/>
          <p:cNvSpPr/>
          <p:nvPr/>
        </p:nvSpPr>
        <p:spPr>
          <a:xfrm>
            <a:off x="4334256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8576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166" y="17945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8576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Expert-reviewed rules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Have qualified healthcare professionals review the skincare guidance.</a:t>
            </a:r>
            <a:endParaRPr lang="en-US" sz="1400" dirty="0"/>
          </a:p>
        </p:txBody>
      </p:sp>
      <p:sp>
        <p:nvSpPr>
          <p:cNvPr id="13" name="future-card-3"/>
          <p:cNvSpPr/>
          <p:nvPr/>
        </p:nvSpPr>
        <p:spPr>
          <a:xfrm>
            <a:off x="8028432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02752" y="16459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342" y="17945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0275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Better history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02752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Enhance historical comparison and report management.</a:t>
            </a:r>
            <a:endParaRPr lang="en-US" sz="1400" dirty="0"/>
          </a:p>
        </p:txBody>
      </p:sp>
      <p:sp>
        <p:nvSpPr>
          <p:cNvPr id="18" name="future-card-4"/>
          <p:cNvSpPr/>
          <p:nvPr/>
        </p:nvSpPr>
        <p:spPr>
          <a:xfrm>
            <a:off x="64008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" y="42633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More image checks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validated image-quality checks and wider camera compatibility.</a:t>
            </a:r>
            <a:endParaRPr lang="en-US" sz="1400" dirty="0"/>
          </a:p>
        </p:txBody>
      </p:sp>
      <p:sp>
        <p:nvSpPr>
          <p:cNvPr id="23" name="future-card-5"/>
          <p:cNvSpPr/>
          <p:nvPr/>
        </p:nvSpPr>
        <p:spPr>
          <a:xfrm>
            <a:off x="4334256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8576" y="41148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166" y="426339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08576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More languages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08576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more languages and improve accessibility for different needs.</a:t>
            </a:r>
            <a:endParaRPr lang="en-US" sz="1400" dirty="0"/>
          </a:p>
        </p:txBody>
      </p:sp>
      <p:sp>
        <p:nvSpPr>
          <p:cNvPr id="28" name="future-card-6"/>
          <p:cNvSpPr/>
          <p:nvPr/>
        </p:nvSpPr>
        <p:spPr>
          <a:xfrm>
            <a:off x="8028432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02752" y="4114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342" y="426339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02752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Privacy controls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02752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Expand privacy settings and user-controlled data deletion.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!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AI Skin Care Expert System with Dynamic Skin Digital Twin  |  Foundations of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1554480"/>
            <a:ext cx="3383280" cy="338328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1965960"/>
            <a:ext cx="2560320" cy="2560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56032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064240" y="44805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kinCareExpert">
  <a:themeElements>
    <a:clrScheme name="SkinCareExpert">
      <a:dk1>
        <a:srgbClr val="1E2A44"/>
      </a:dk1>
      <a:lt1>
        <a:srgbClr val="FFFFFF"/>
      </a:lt1>
      <a:dk2>
        <a:srgbClr val="4B2E83"/>
      </a:dk2>
      <a:lt2>
        <a:srgbClr val="F1ECF9"/>
      </a:lt2>
      <a:accent1>
        <a:srgbClr val="4B2E83"/>
      </a:accent1>
      <a:accent2>
        <a:srgbClr val="1F9E94"/>
      </a:accent2>
      <a:accent3>
        <a:srgbClr val="E8766D"/>
      </a:accent3>
      <a:accent4>
        <a:srgbClr val="8FD9D0"/>
      </a:accent4>
      <a:accent5>
        <a:srgbClr val="B9A5E3"/>
      </a:accent5>
      <a:accent6>
        <a:srgbClr val="F4B860"/>
      </a:accent6>
      <a:hlink>
        <a:srgbClr val="1F9E94"/>
      </a:hlink>
      <a:folHlink>
        <a:srgbClr val="4B2E83"/>
      </a:folHlink>
    </a:clrScheme>
    <a:fontScheme name="SkinCareExpe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1308</Words>
  <Application>Microsoft Office PowerPoint</Application>
  <PresentationFormat>Widescreen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SkinCareExpert</vt:lpstr>
      <vt:lpstr>PowerPoint Presentation</vt:lpstr>
      <vt:lpstr>Abstract</vt:lpstr>
      <vt:lpstr>Problem Statement</vt:lpstr>
      <vt:lpstr>Literature Survey</vt:lpstr>
      <vt:lpstr>Research Gap</vt:lpstr>
      <vt:lpstr>Research Objective</vt:lpstr>
      <vt:lpstr>Proposed Work: Architecture</vt:lpstr>
      <vt:lpstr>Proposed Work: Algorithms Used</vt:lpstr>
      <vt:lpstr>Implementation</vt:lpstr>
      <vt:lpstr>Result and Conclusion</vt:lpstr>
      <vt:lpstr>Future Enhancement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Skin Care Expert System with Dynamic Skin Digital Twin</dc:title>
  <dc:subject>Foundations of AI</dc:subject>
  <dc:creator>PptxGenJS</dc:creator>
  <cp:lastModifiedBy>Abishaa Ruban</cp:lastModifiedBy>
  <cp:revision>2</cp:revision>
  <dcterms:created xsi:type="dcterms:W3CDTF">2026-10-12T03:38:10Z</dcterms:created>
  <dcterms:modified xsi:type="dcterms:W3CDTF">2026-10-12T03:45:22Z</dcterms:modified>
</cp:coreProperties>
</file>